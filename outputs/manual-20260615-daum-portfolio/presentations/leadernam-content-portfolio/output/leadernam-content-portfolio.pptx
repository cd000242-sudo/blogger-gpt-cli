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c587a2581047fc" /><Relationship Type="http://schemas.openxmlformats.org/officeDocument/2006/relationships/extended-properties" Target="/docProps/app.xml" Id="Rd7d5cb5ca88e4361" /><Relationship Type="http://schemas.openxmlformats.org/officeDocument/2006/relationships/officeDocument" Target="/ppt/presentation.xml" Id="R0cf3db5111944f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ea0704a3ca4a1c"/>
  </p:sldMasterIdLst>
  <p:notesMasterIdLst>
    <p:notesMasterId xmlns:r="http://schemas.openxmlformats.org/officeDocument/2006/relationships" r:id="R681ba053bba54dcd"/>
  </p:notesMasterIdLst>
  <p:sldIdLst>
    <p:sldId xmlns:r="http://schemas.openxmlformats.org/officeDocument/2006/relationships" id="256" r:id="Rd29b474600dd4943"/>
    <p:sldId xmlns:r="http://schemas.openxmlformats.org/officeDocument/2006/relationships" id="257" r:id="R35a8360cd2fb41d4"/>
    <p:sldId xmlns:r="http://schemas.openxmlformats.org/officeDocument/2006/relationships" id="258" r:id="R6715762e85fa497d"/>
    <p:sldId xmlns:r="http://schemas.openxmlformats.org/officeDocument/2006/relationships" id="259" r:id="Rc0009b3cf7734287"/>
    <p:sldId xmlns:r="http://schemas.openxmlformats.org/officeDocument/2006/relationships" id="260" r:id="R50313194d779444d"/>
    <p:sldId xmlns:r="http://schemas.openxmlformats.org/officeDocument/2006/relationships" id="261" r:id="R10cb18f519f748ee"/>
    <p:sldId xmlns:r="http://schemas.openxmlformats.org/officeDocument/2006/relationships" id="262" r:id="R1e1c1f62ea6647b1"/>
    <p:sldId xmlns:r="http://schemas.openxmlformats.org/officeDocument/2006/relationships" id="263" r:id="Rf141de1eea544211"/>
    <p:sldId xmlns:r="http://schemas.openxmlformats.org/officeDocument/2006/relationships" id="264" r:id="R93a1059f8c5d4486"/>
    <p:sldId xmlns:r="http://schemas.openxmlformats.org/officeDocument/2006/relationships" id="265" r:id="R123fb0188fa140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6a097136e04520" /><Relationship Type="http://schemas.openxmlformats.org/officeDocument/2006/relationships/slideMaster" Target="/ppt/slideMasters/slideMaster1.xml" Id="R49ea0704a3ca4a1c" /><Relationship Type="http://schemas.openxmlformats.org/officeDocument/2006/relationships/notesMaster" Target="/ppt/notesMasters/notesMaster1.xml" Id="R681ba053bba54dcd" /><Relationship Type="http://schemas.openxmlformats.org/officeDocument/2006/relationships/presProps" Target="/ppt/presProps.xml" Id="R8eae89e6e123439b" /><Relationship Type="http://schemas.openxmlformats.org/officeDocument/2006/relationships/tableStyles" Target="/ppt/tableStyles.xml" Id="R3203e1ce62a44d41" /><Relationship Type="http://schemas.openxmlformats.org/officeDocument/2006/relationships/slide" Target="/ppt/slides/slide1.xml" Id="Rd29b474600dd4943" /><Relationship Type="http://schemas.openxmlformats.org/officeDocument/2006/relationships/slide" Target="/ppt/slides/slide2.xml" Id="R35a8360cd2fb41d4" /><Relationship Type="http://schemas.openxmlformats.org/officeDocument/2006/relationships/slide" Target="/ppt/slides/slide3.xml" Id="R6715762e85fa497d" /><Relationship Type="http://schemas.openxmlformats.org/officeDocument/2006/relationships/slide" Target="/ppt/slides/slide4.xml" Id="Rc0009b3cf7734287" /><Relationship Type="http://schemas.openxmlformats.org/officeDocument/2006/relationships/slide" Target="/ppt/slides/slide5.xml" Id="R50313194d779444d" /><Relationship Type="http://schemas.openxmlformats.org/officeDocument/2006/relationships/slide" Target="/ppt/slides/slide6.xml" Id="R10cb18f519f748ee" /><Relationship Type="http://schemas.openxmlformats.org/officeDocument/2006/relationships/slide" Target="/ppt/slides/slide7.xml" Id="R1e1c1f62ea6647b1" /><Relationship Type="http://schemas.openxmlformats.org/officeDocument/2006/relationships/slide" Target="/ppt/slides/slide8.xml" Id="Rf141de1eea544211" /><Relationship Type="http://schemas.openxmlformats.org/officeDocument/2006/relationships/slide" Target="/ppt/slides/slide9.xml" Id="R93a1059f8c5d4486" /><Relationship Type="http://schemas.openxmlformats.org/officeDocument/2006/relationships/slide" Target="/ppt/slides/slide10.xml" Id="R123fb0188fa140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3677c721bb40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7d32fc041d4c10" /><Relationship Type="http://schemas.openxmlformats.org/officeDocument/2006/relationships/notesMaster" Target="/ppt/notesMasters/notesMaster1.xml" Id="R8b5bafd3fe9d42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98580d4409412f" /><Relationship Type="http://schemas.openxmlformats.org/officeDocument/2006/relationships/notesMaster" Target="/ppt/notesMasters/notesMaster1.xml" Id="R376a895b4a3e4c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426ed5b073456c" /><Relationship Type="http://schemas.openxmlformats.org/officeDocument/2006/relationships/notesMaster" Target="/ppt/notesMasters/notesMaster1.xml" Id="R521dfab0581442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90f21d71744518" /><Relationship Type="http://schemas.openxmlformats.org/officeDocument/2006/relationships/notesMaster" Target="/ppt/notesMasters/notesMaster1.xml" Id="Rfdaadac27ef141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b2241cb0ed48ac" /><Relationship Type="http://schemas.openxmlformats.org/officeDocument/2006/relationships/notesMaster" Target="/ppt/notesMasters/notesMaster1.xml" Id="R59bc36b8680749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8d279074be4048" /><Relationship Type="http://schemas.openxmlformats.org/officeDocument/2006/relationships/notesMaster" Target="/ppt/notesMasters/notesMaster1.xml" Id="Rc4f4dbb74bd345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ae298a8a694343" /><Relationship Type="http://schemas.openxmlformats.org/officeDocument/2006/relationships/notesMaster" Target="/ppt/notesMasters/notesMaster1.xml" Id="R5a6e0b89149149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a4ace2e46046e2" /><Relationship Type="http://schemas.openxmlformats.org/officeDocument/2006/relationships/notesMaster" Target="/ppt/notesMasters/notesMaster1.xml" Id="Rd0359d95c32641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09eb1e912d4d61" /><Relationship Type="http://schemas.openxmlformats.org/officeDocument/2006/relationships/notesMaster" Target="/ppt/notesMasters/notesMaster1.xml" Id="R1ac0aa37a72f49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ed67aa5d2f4e3c" /><Relationship Type="http://schemas.openxmlformats.org/officeDocument/2006/relationships/notesMaster" Target="/ppt/notesMasters/notesMaster1.xml" Id="R9b96a46eebe242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74852afbb4c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9d90a5f5dc4379" /><Relationship Type="http://schemas.openxmlformats.org/officeDocument/2006/relationships/slideLayout" Target="/ppt/slideLayouts/slideLayout1.xml" Id="Ra59626c2632f40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9626c2632f40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6eab979aa4ab5" /><Relationship Type="http://schemas.openxmlformats.org/officeDocument/2006/relationships/image" Target="/ppt/media/image.png" Id="R5e89fd7bc4d34828" /><Relationship Type="http://schemas.openxmlformats.org/officeDocument/2006/relationships/image" Target="/ppt/media/image2.png" Id="R62edca3b328d4237" /><Relationship Type="http://schemas.openxmlformats.org/officeDocument/2006/relationships/image" Target="/ppt/media/image3.png" Id="Rfdb022b2e8304cc7" /><Relationship Type="http://schemas.openxmlformats.org/officeDocument/2006/relationships/notesSlide" Target="/ppt/notesSlides/notesSlide1.xml" Id="R60fb1d2d39c946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b9e7742264ec4" /><Relationship Type="http://schemas.openxmlformats.org/officeDocument/2006/relationships/image" Target="/ppt/media/image4.png" Id="R58a21b29c52d4d19" /><Relationship Type="http://schemas.openxmlformats.org/officeDocument/2006/relationships/image" Target="/ppt/media/image5.png" Id="R6bd885eae079462d" /><Relationship Type="http://schemas.openxmlformats.org/officeDocument/2006/relationships/image" Target="/ppt/media/image6.png" Id="R2578b8217fda43c2" /><Relationship Type="http://schemas.openxmlformats.org/officeDocument/2006/relationships/image" Target="/ppt/media/image7.png" Id="R06012e52b6364e9d" /><Relationship Type="http://schemas.openxmlformats.org/officeDocument/2006/relationships/notesSlide" Target="/ppt/notesSlides/notesSlide2.xml" Id="Rb4c3391afa9546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f0d9cd0684bdd" /><Relationship Type="http://schemas.openxmlformats.org/officeDocument/2006/relationships/image" Target="/ppt/media/image8.png" Id="Re27f07ad8a184e0e" /><Relationship Type="http://schemas.openxmlformats.org/officeDocument/2006/relationships/image" Target="/ppt/media/image9.png" Id="R046e1e628b064363" /><Relationship Type="http://schemas.openxmlformats.org/officeDocument/2006/relationships/notesSlide" Target="/ppt/notesSlides/notesSlide3.xml" Id="R0658ffe25ce948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71b23c73045a9" /><Relationship Type="http://schemas.openxmlformats.org/officeDocument/2006/relationships/image" Target="/ppt/media/image10.png" Id="R9d14a7c29c7e4a7c" /><Relationship Type="http://schemas.openxmlformats.org/officeDocument/2006/relationships/notesSlide" Target="/ppt/notesSlides/notesSlide4.xml" Id="Re952f1d99fec43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de2d2931d4832" /><Relationship Type="http://schemas.openxmlformats.org/officeDocument/2006/relationships/image" Target="/ppt/media/image11.png" Id="R92d14875d82541ba" /><Relationship Type="http://schemas.openxmlformats.org/officeDocument/2006/relationships/notesSlide" Target="/ppt/notesSlides/notesSlide5.xml" Id="R55b3062fddb84c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07052648e4ebe" /><Relationship Type="http://schemas.openxmlformats.org/officeDocument/2006/relationships/image" Target="/ppt/media/image12.png" Id="R205a8879f8d949fa" /><Relationship Type="http://schemas.openxmlformats.org/officeDocument/2006/relationships/notesSlide" Target="/ppt/notesSlides/notesSlide6.xml" Id="R03103904158548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28fbaa74b42a0" /><Relationship Type="http://schemas.openxmlformats.org/officeDocument/2006/relationships/image" Target="/ppt/media/image13.png" Id="R2c1b3cc75e8e44a6" /><Relationship Type="http://schemas.openxmlformats.org/officeDocument/2006/relationships/image" Target="/ppt/media/image14.png" Id="R4ddd5656187a4f7f" /><Relationship Type="http://schemas.openxmlformats.org/officeDocument/2006/relationships/notesSlide" Target="/ppt/notesSlides/notesSlide7.xml" Id="R18ab6d041db14a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9ad9d722f404c" /><Relationship Type="http://schemas.openxmlformats.org/officeDocument/2006/relationships/image" Target="/ppt/media/image15.png" Id="Rd8b59cd42aa44ed6" /><Relationship Type="http://schemas.openxmlformats.org/officeDocument/2006/relationships/notesSlide" Target="/ppt/notesSlides/notesSlide8.xml" Id="R51d11641f6b141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6c95b65204034" /><Relationship Type="http://schemas.openxmlformats.org/officeDocument/2006/relationships/notesSlide" Target="/ppt/notesSlides/notesSlide9.xml" Id="R4bab862b648544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c5712cea04757" /><Relationship Type="http://schemas.openxmlformats.org/officeDocument/2006/relationships/notesSlide" Target="/ppt/notesSlides/notesSlide10.xml" Id="R16ef418e8d7f47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2E7112-87D3-4441-86B4-ABE57315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8BCE7-BC45-49D1-9F97-188D98F7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D2EC9B-7D01-4803-AE00-1AB7290B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CF66BC9-77AC-41CF-83AE-60208195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7E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8E7E1"/>
                </a:solidFill>
                <a:latin typeface="Malgun Gothic"/>
                <a:ea typeface="Malgun Gothic"/>
                <a:cs typeface="Malgun Gothic"/>
              </a:rPr>
              <a:t>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BDFE4-5C98-41DE-B435-EB7EB87C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리더남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203A0-1093-47F6-9F20-8518F512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콘텐츠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BFB15-0727-4C1E-B45F-8BA60666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포트폴리오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B9864-7C7F-4CB3-92B2-9AAC31E4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7E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E7E1"/>
                </a:solidFill>
                <a:latin typeface="Malgun Gothic"/>
                <a:ea typeface="Malgun Gothic"/>
                <a:cs typeface="Malgun Gothic"/>
              </a:rPr>
              <a:t>블로그 운영 · 교육 · 생활정보 콘텐츠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BAD80-662D-4EFD-BD6B-B96FD296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3286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CE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7ECE9"/>
                </a:solidFill>
                <a:latin typeface="Malgun Gothic"/>
                <a:ea typeface="Malgun Gothic"/>
                <a:cs typeface="Malgun Gothic"/>
              </a:rPr>
              <a:t>다음채널 제출을 위해 실제 운영해온 채널, 대표 글, 콘텐츠 작성 원칙을 증빙 캡처와 함께 정리했습니다.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64414-0358-4AAE-80F0-034AC668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1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746F2-5F1A-467C-9438-A1FA3DBF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3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8D3CE"/>
                </a:solidFill>
                <a:latin typeface="Malgun Gothic"/>
                <a:ea typeface="Malgun Gothic"/>
                <a:cs typeface="Malgun Gothic"/>
              </a:rPr>
              <a:t>제출 전 실제 URL 교체 필요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EA66E-E99A-4C67-8FDB-B61C45CC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6250"/>
            <a:ext cx="64008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9fd7bc4d34828"/>
          <a:srcRect xmlns:a="http://schemas.openxmlformats.org/drawingml/2006/main" l="108" t="0" r="1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533400"/>
            <a:ext cx="6286500" cy="1428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484F0-58F4-4BA9-92A8-77D6D56E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B6B8A-0A83-49BF-8B81-5D2CC11E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57400"/>
            <a:ext cx="605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유튜브 채널 운영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20211-9492-4FA5-9955-77E726AF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00300"/>
            <a:ext cx="311467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dca3b328d4237"/>
          <a:srcRect xmlns:a="http://schemas.openxmlformats.org/drawingml/2006/main" l="8052" t="0" r="80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2457450"/>
            <a:ext cx="3000375" cy="3238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5F025-016C-4C40-A5D0-1F656B51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72150"/>
            <a:ext cx="3000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6F6EA-FA15-4946-B87D-03917402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791200"/>
            <a:ext cx="2771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네이버 블로그 운영 화면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78D74-194C-481C-8E81-6EC1B7DE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29718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022b2e8304cc7"/>
          <a:srcRect xmlns:a="http://schemas.openxmlformats.org/drawingml/2006/main" l="29590" t="0" r="295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2457450"/>
            <a:ext cx="2857500" cy="3238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0EAAC-D9F7-4BA8-9744-40E4A8F4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721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CC6C16-78F7-46F8-B575-C74852A2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9120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콘텐츠 운영 도구 화면</a:t>
            </a:r>
          </a:p>
        </p:txBody>
      </p:sp>
      <p:sp>
        <p:nvSpPr>
          <p:cNvPr id="24" name="footer-note-1">
            <a:extLst xmlns:a="http://schemas.openxmlformats.org/drawingml/2006/main">
              <a:ext uri="{FF2B5EF4-FFF2-40B4-BE49-F238E27FC236}">
                <a16:creationId xmlns:a16="http://schemas.microsoft.com/office/drawing/2014/main" id="{9E339A3E-D0D6-4129-83F7-B95A07A6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운영 기록 기반 포트폴리오</a:t>
            </a:r>
          </a:p>
        </p:txBody>
      </p:sp>
      <p:sp>
        <p:nvSpPr>
          <p:cNvPr id="25" name="page-marker-1">
            <a:extLst xmlns:a="http://schemas.openxmlformats.org/drawingml/2006/main">
              <a:ext uri="{FF2B5EF4-FFF2-40B4-BE49-F238E27FC236}">
                <a16:creationId xmlns:a16="http://schemas.microsoft.com/office/drawing/2014/main" id="{DB2479C6-0914-48E6-AF41-32512CB8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9529231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FE878E-19E0-4275-930C-E4A7CF61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0477D2A-683C-4DF6-9A2E-6D478523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253852-8C23-41C8-A67C-6B5EB230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OPERATOR SUMMARY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2EB79D1-D54D-42D1-9E97-08DFCBA3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운영 범위는 채널, 글, 교육, 도구까지 이어집니다.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2CDF9-0ED6-4D82-8A9A-BF2E9EB7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심사자가 30초 안에 확인해야 할 운영 근거만 추려 정리했습니다.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90787-3E8E-4002-B7DA-DC705AE1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53273-6A20-4552-BE30-0DA0E66A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100+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95266-D5A0-4B4D-8972-6B8D0AA1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운영·관리 경험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C40F4-6458-4987-9792-CB26DFF1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583D7-DBF7-46A5-B7F0-C8CA252F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4315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약 4년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2D65A-EB31-47B8-B7E8-8689BD3B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860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교육 노하우 공유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988ED-2C70-4CB4-8FCC-B738EBA5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EB19D-841F-45EB-AB73-EA96F11F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3종+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69BBC-6FC0-4BDD-B9C3-F00D5969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운영 플랫폼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E16FE-92B7-45FB-B970-76FD4D55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2EB2D-C0E1-49A2-B46F-49EB8EEF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3855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기획 보조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D4079-E017-4A9E-81E1-C1B254A9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814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자체 도구 개발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39BA9-FE43-4B8B-A866-C12DAE64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4972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E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137AF-158C-44D8-984A-A0434D0F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466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핵심 포지셔닝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E7260-FC28-4742-B58F-E65A9702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단순 글 발행자가 아니라 여러 블로그 구조를 만들고 관리해온 콘텐츠 운영자입니다.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4B065-1319-4B13-8FEF-7AEFB35E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21b29c52d4d19"/>
          <a:srcRect xmlns:a="http://schemas.openxmlformats.org/drawingml/2006/main" l="0" t="12566" r="0" b="12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409700"/>
            <a:ext cx="2247900" cy="15240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E2EFE-E43A-4EC5-AFC1-66333A60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68C49-2747-40E3-9293-E757BB76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201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네이버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3A27E-13DD-48B0-A874-BE8CA299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52550"/>
            <a:ext cx="2114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885eae079462d"/>
          <a:srcRect xmlns:a="http://schemas.openxmlformats.org/drawingml/2006/main" l="0" t="29887" r="0" b="298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1409700"/>
            <a:ext cx="2000250" cy="15240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9467A0-3A1B-4B48-BA2E-04359CFF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9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57AF93-4B56-4496-AF46-B72F7969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289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워드프레스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EC54A-7B2D-495D-8AC3-15F5A217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8b8217fda43c2"/>
          <a:srcRect xmlns:a="http://schemas.openxmlformats.org/drawingml/2006/main" l="0" t="2774" r="0" b="2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3524250"/>
            <a:ext cx="2247900" cy="15240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40B527-8469-453B-8CAD-77A2CD68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244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588214-8801-4B8E-9E31-CAF51B02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43500"/>
            <a:ext cx="201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블로그스팟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DAEB95-971C-4E6F-8E5C-0ED300AC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67100"/>
            <a:ext cx="21145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12e52b6364e9d"/>
          <a:srcRect xmlns:a="http://schemas.openxmlformats.org/drawingml/2006/main" l="8258" t="0" r="82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3524250"/>
            <a:ext cx="2000250" cy="15240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D3FB1-8A8F-4D64-87E6-BAC55401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244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D6EEDD-5B49-41DE-9D61-46FA45D9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435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유튜브 교육</a:t>
            </a:r>
          </a:p>
        </p:txBody>
      </p:sp>
      <p:sp>
        <p:nvSpPr>
          <p:cNvPr id="37" name="footer-note-2">
            <a:extLst xmlns:a="http://schemas.openxmlformats.org/drawingml/2006/main">
              <a:ext uri="{FF2B5EF4-FFF2-40B4-BE49-F238E27FC236}">
                <a16:creationId xmlns:a16="http://schemas.microsoft.com/office/drawing/2014/main" id="{0835DE5E-BFBE-44E2-AE9E-36291907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38" name="page-marker-2">
            <a:extLst xmlns:a="http://schemas.openxmlformats.org/drawingml/2006/main">
              <a:ext uri="{FF2B5EF4-FFF2-40B4-BE49-F238E27FC236}">
                <a16:creationId xmlns:a16="http://schemas.microsoft.com/office/drawing/2014/main" id="{E9A2709A-EBBC-45A3-8CD9-7509DAB4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19531431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AA6FE6-F383-4781-B8FD-6C9E18F0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AC8D80-8D9A-486E-92DF-6E6C8944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092846-81F3-4B70-9814-F7BB4840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YOUTUBE RECORD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F453DD1-EA3F-4754-BC59-39A60115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514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블로그 운영 노하우를 영상으로 공개해온 기록입니다.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EC228-F741-4E6F-A7D9-3E84F16F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채널 화면과 영상 화면은 초보자에게 운영 과정을 설명해온 교육 기록으로 활용됩니다.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1E36B-ACD0-46D5-B6C3-0AB3719E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50673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f07ad8a184e0e"/>
          <a:srcRect xmlns:a="http://schemas.openxmlformats.org/drawingml/2006/main" l="10691" t="0" r="106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381250"/>
            <a:ext cx="4953000" cy="1428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730E4-DF10-433E-9715-12B3C3B8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DBFF8-F700-4A42-99B6-5BB15EBA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72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채널 운영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2E2B0-4238-465E-A39C-BC69AF99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257300"/>
            <a:ext cx="52768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e1e628b064363"/>
          <a:srcRect xmlns:a="http://schemas.openxmlformats.org/drawingml/2006/main" l="1580" t="0" r="15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1314450"/>
            <a:ext cx="5162550" cy="3390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6DB85-B5FF-464B-A6B0-4E690038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81550"/>
            <a:ext cx="516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C559A-8D6D-45D9-8F3C-E8A158FE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블로그 운영 팁 영상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C5916-0D4F-421F-A731-36A50BA6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43678-C490-4CC8-A755-D5DF8DF0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증빙 포인트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4D9D4-81A9-4CE6-9D08-96E62F5E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2076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블로그 운영 화면을 직접 보여주며 초보자가 따라올 수 있는 방식으로 설명해온 채널입니다.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1D677-B3DE-453C-A54D-25733D0D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910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9FC4F-5D77-428F-9DD4-93C7D785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243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다음채널과의 연결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EE02A-D74C-4EA9-8D95-9661592F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10100"/>
            <a:ext cx="2076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생활정보 글도 같은 방식으로 원인, 순서, 주의사항을 풀어가는 정리형 콘텐츠로 운영할 수 있습니다.</a:t>
            </a:r>
          </a:p>
        </p:txBody>
      </p:sp>
      <p:sp>
        <p:nvSpPr>
          <p:cNvPr id="20" name="footer-note-3">
            <a:extLst xmlns:a="http://schemas.openxmlformats.org/drawingml/2006/main">
              <a:ext uri="{FF2B5EF4-FFF2-40B4-BE49-F238E27FC236}">
                <a16:creationId xmlns:a16="http://schemas.microsoft.com/office/drawing/2014/main" id="{4583895A-4273-4836-8840-AD350527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유튜브 채널: @leadernam-s5e</a:t>
            </a:r>
          </a:p>
        </p:txBody>
      </p:sp>
      <p:sp>
        <p:nvSpPr>
          <p:cNvPr id="21" name="page-marker-3">
            <a:extLst xmlns:a="http://schemas.openxmlformats.org/drawingml/2006/main">
              <a:ext uri="{FF2B5EF4-FFF2-40B4-BE49-F238E27FC236}">
                <a16:creationId xmlns:a16="http://schemas.microsoft.com/office/drawing/2014/main" id="{1F40489B-52F5-4265-B8C0-4033DF7A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16037348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3A184C-16A1-4538-A20D-5021E956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3802C3E-9419-4AC9-9A01-73787943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97464FD-BABC-40B0-AACE-66C259E7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NAVER BLOG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577319D-7218-4722-9021-0F6BC69D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네이버 블로그는 정책·생활정보를 카테고리로 관리한 기록입니다.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3EDE8-C3A4-481F-ADC2-7D78B56C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69723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4a7c29c7e4a7c"/>
          <a:srcRect xmlns:a="http://schemas.openxmlformats.org/drawingml/2006/main" l="0" t="18558" r="0" b="185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638300"/>
            <a:ext cx="6858000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D603F-96DB-4C0A-A7D4-5CF8F6BE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62A77-D9A3-45F3-8FA8-CBD7D9CA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662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네이버 블로그 메인 및 글 목록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59AF8-B4C6-487B-B9BA-A90E6E91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0B725-10B8-47A6-8556-BC27ED99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운영 구조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42EF1-B29E-437A-893E-5D5A5829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지원금, 생활비, 지자체 안내처럼 독자가 주제별로 찾기 쉬운 카테고리 구조를 사용했습니다.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81796-659F-47B1-B022-65AEF46C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C2767-4EE7-43E3-94C2-89D3D981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대표 글 흐름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82786-936F-48CD-9617-994EEB90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목록에서 바로 확인 가능한 글 제목과 썸네일을 통해 정책 글의 구체성을 보여줍니다.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13BED-B938-4699-A746-3C99EABA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E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7787E-1AB4-42BA-9DC9-F978CF4E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196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제출 활용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7B5FD-0175-4844-8481-70C011A7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0535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다음채널 신청서에는 실제 URL로 교체해 운영 중인 자료로 연결하면 됩니다.</a:t>
            </a:r>
          </a:p>
        </p:txBody>
      </p:sp>
      <p:sp>
        <p:nvSpPr>
          <p:cNvPr id="18" name="footer-note-4">
            <a:extLst xmlns:a="http://schemas.openxmlformats.org/drawingml/2006/main">
              <a:ext uri="{FF2B5EF4-FFF2-40B4-BE49-F238E27FC236}">
                <a16:creationId xmlns:a16="http://schemas.microsoft.com/office/drawing/2014/main" id="{D9FC6E4E-2B74-4225-B7E3-34F375B3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네이버 블로그 운영 증빙</a:t>
            </a:r>
          </a:p>
        </p:txBody>
      </p:sp>
      <p:sp>
        <p:nvSpPr>
          <p:cNvPr id="19" name="page-marker-4">
            <a:extLst xmlns:a="http://schemas.openxmlformats.org/drawingml/2006/main">
              <a:ext uri="{FF2B5EF4-FFF2-40B4-BE49-F238E27FC236}">
                <a16:creationId xmlns:a16="http://schemas.microsoft.com/office/drawing/2014/main" id="{AA23041A-501F-4AB9-B32D-D9A9E705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12056063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56E710-A36B-4108-845B-0B75C501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5B358A2-A359-4BBC-8104-41F15458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54BCC1-69B6-4169-85B3-CD8BCD21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POLICY ARTICLE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59B69C2-E48D-4745-A63A-E9DBFCF9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지원금 글은 조건과 확인 순서를 풀어주는 정리형 콘텐츠입니다.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969E7-421E-4C5E-B4D0-469C4D52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정책 글은 독자가 바로 확인할 수 있는 원인, 문의처, 해결 순서를 중심으로 구성합니다.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A4BC6-FD3E-40C7-9D0D-E282E47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4019550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14875d82541ba"/>
          <a:srcRect xmlns:a="http://schemas.openxmlformats.org/drawingml/2006/main" l="0" t="21509" r="0" b="215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209800"/>
            <a:ext cx="3905250" cy="3286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86894-5B0E-48C2-950B-E05B4A46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7B81B-B4D6-4593-BCDE-AA92D519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91175"/>
            <a:ext cx="3676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네이버 정책 글 예시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7A3FB-C97F-43DF-93C7-2107D392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523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FCBDF-950B-45AB-9C33-B54D7399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669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DC19F-3328-4D75-BBC2-CB8B360A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4790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먼저 확인할 사유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1E3F2-D3A5-4F8F-96BF-BBB7DB80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76500"/>
            <a:ext cx="4552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계좌번호, 예금주, 지연 사유처럼 독자가 바로 확인해야 할 항목을 앞에 둡니다.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9EA29-C315-4556-AEC5-D50B4832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523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C28D2-6F8A-4BCC-A29E-0CCBC70B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97CD0-8EB4-42C6-9EE6-8BA8F2AE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1470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본문에서 근거와 맥락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F528A-4E33-4E45-AD7C-A69FF2F3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43300"/>
            <a:ext cx="4552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제목은 궁금증을 줄 수 있지만 본문은 확인 가능한 사유와 순서를 중심으로 정리합니다.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FBB59-845E-4691-9E6C-31073AFA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523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E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CFA2E-D132-4FBD-A00F-92142ADE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005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2F80E2-21C2-40A5-AC98-3BB0650D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8150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확인 경로 안내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53E97-A992-4984-B3DE-54CD5D0B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10100"/>
            <a:ext cx="4552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정책·지원금 글은 변동 가능성이 있어 공식 안내와 문의 경로를 함께 안내합니다.</a:t>
            </a:r>
          </a:p>
        </p:txBody>
      </p:sp>
      <p:sp>
        <p:nvSpPr>
          <p:cNvPr id="22" name="footer-note-5">
            <a:extLst xmlns:a="http://schemas.openxmlformats.org/drawingml/2006/main">
              <a:ext uri="{FF2B5EF4-FFF2-40B4-BE49-F238E27FC236}">
                <a16:creationId xmlns:a16="http://schemas.microsoft.com/office/drawing/2014/main" id="{0C8CFF0C-894B-44E9-9825-1EB867C4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정책·지원금 대표 글 예시</a:t>
            </a:r>
          </a:p>
        </p:txBody>
      </p:sp>
      <p:sp>
        <p:nvSpPr>
          <p:cNvPr id="23" name="page-marker-5">
            <a:extLst xmlns:a="http://schemas.openxmlformats.org/drawingml/2006/main">
              <a:ext uri="{FF2B5EF4-FFF2-40B4-BE49-F238E27FC236}">
                <a16:creationId xmlns:a16="http://schemas.microsoft.com/office/drawing/2014/main" id="{AA550296-6DE2-46C9-BFD8-5F410A50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17546503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F553DC-97F9-4B82-908C-0D633213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E3C46D-8306-4009-AE9B-178501F1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FDA424-2B71-4498-87A7-D38A012E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WORDPRESS RECORD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D73C7DD-8388-47C1-8CCF-5A65D2BF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62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워드프레스 글은 긴 주제를 한 페이지에서 읽히도록 구성했습니다.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F58C6-63D0-4169-BF76-63999E2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7338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a8879f8d949fa"/>
          <a:srcRect xmlns:a="http://schemas.openxmlformats.org/drawingml/2006/main" l="0" t="19433" r="0" b="194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24000"/>
            <a:ext cx="361950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C9DEE-DFFE-45B6-88C8-5BF691CA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71FD6-2C7F-4491-AC2F-7983BACE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3390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워드프레스 글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8814E-345A-45EA-BFAC-BFEFDA94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24000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88D56-7FFA-401B-A14F-06BEAD70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57350"/>
            <a:ext cx="502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구성 방식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BBD64-E820-4756-BB29-081B55CA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43100"/>
            <a:ext cx="502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이미지, 요약, 본문, 확인할 점을 나누어 긴 글도 독자가 흐름을 잃지 않게 정리합니다.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18F26-1D5D-4630-870C-5AD1A187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4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ABBFE-6635-48E5-AA12-5DCACE3F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75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F9301-E2E1-41A4-974D-F6838A4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38450"/>
            <a:ext cx="464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상단 이미지와 주제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F73BE-C592-4373-979F-9812E66D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67050"/>
            <a:ext cx="464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독자가 글의 주제를 빠르게 파악할 수 있게 대표 이미지를 앞에 배치합니다.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6983F-F892-4930-A3E4-0532DEAE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36E78-8A97-4E30-945F-85A652AD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23EA7-3DC4-4816-9E3F-063955D2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464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본문은 단락별로 분리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64F1A-80FF-4107-832A-E9DB907D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43350"/>
            <a:ext cx="464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긴 설명은 한 덩어리로 두지 않고 이유, 방법, 주의사항으로 나눕니다.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AE2A4-3A91-4F75-937E-BB706B44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E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18293-E201-49E4-888E-34419069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01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72931-00AC-4F64-A20E-321F4EAA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91050"/>
            <a:ext cx="464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생활정보형 글로 전환 가능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3633B-4661-40A1-BA59-CA41F819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19650"/>
            <a:ext cx="464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다음채널에서도 지원금, 집관리, 청소·세탁 글에 같은 구조를 적용할 수 있습니다.</a:t>
            </a:r>
          </a:p>
        </p:txBody>
      </p:sp>
      <p:sp>
        <p:nvSpPr>
          <p:cNvPr id="24" name="footer-note-6">
            <a:extLst xmlns:a="http://schemas.openxmlformats.org/drawingml/2006/main">
              <a:ext uri="{FF2B5EF4-FFF2-40B4-BE49-F238E27FC236}">
                <a16:creationId xmlns:a16="http://schemas.microsoft.com/office/drawing/2014/main" id="{9FECB614-D721-4C2F-8280-3DC82FAE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워드프레스 운영 증빙</a:t>
            </a:r>
          </a:p>
        </p:txBody>
      </p:sp>
      <p:sp>
        <p:nvSpPr>
          <p:cNvPr id="25" name="page-marker-6">
            <a:extLst xmlns:a="http://schemas.openxmlformats.org/drawingml/2006/main">
              <a:ext uri="{FF2B5EF4-FFF2-40B4-BE49-F238E27FC236}">
                <a16:creationId xmlns:a16="http://schemas.microsoft.com/office/drawing/2014/main" id="{C963B76F-CFA3-44A0-B9D8-1391822F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9404895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D75923-B726-4A13-92CA-1829F03D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BC0A759-0E0B-45DE-B80E-22C3E23B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33581F-9A40-48DE-AF8D-53A0FDEE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BLOGSPOT RECORD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D44F0BF-0979-45C9-8D7A-55D8CF38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블로그스팟은 목록 관리와 본문 구조를 나누어 운영했습니다.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5B12A-CF0E-4212-B3AB-ADAAAE45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647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목록에서는 연재 흐름을 보여주고, 본문에서는 먼저 읽을 순서와 근거를 차례로 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97BE2-2FB9-4E05-8E90-8A356B06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50673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b3cc75e8e44a6"/>
          <a:srcRect xmlns:a="http://schemas.openxmlformats.org/drawingml/2006/main" l="0" t="11152" r="0" b="11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266950"/>
            <a:ext cx="4953000" cy="2762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AFFC1-1C2B-4BC6-82BC-0F4DFD48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78B8C-E43B-422E-A72D-FC2BB760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472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글 목록과 태그 흐름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4F0CE-2654-4C30-8090-09990D27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09800"/>
            <a:ext cx="48768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d5656187a4f7f"/>
          <a:srcRect xmlns:a="http://schemas.openxmlformats.org/drawingml/2006/main" l="4276" t="0" r="42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266950"/>
            <a:ext cx="4762500" cy="2762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A31A3-D05E-40DC-9224-988165E9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054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67EFA-BB99-4A29-922B-0EFB2E4D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24450"/>
            <a:ext cx="453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본문 읽기 순서와 구조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3BC2D-6F25-4AC9-B150-28727781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0267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E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FD2AC-4FE5-47BC-B215-0DE2405D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996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운영 해석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3737D-C8FE-42B9-B258-AFD109F8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9963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관련 글을 이어볼 수 있게 목록과 태그를 관리하고, 본문은 독자가 순서대로 이해하도록 구성했습니다.</a:t>
            </a:r>
          </a:p>
        </p:txBody>
      </p:sp>
      <p:sp>
        <p:nvSpPr>
          <p:cNvPr id="17" name="footer-note-7">
            <a:extLst xmlns:a="http://schemas.openxmlformats.org/drawingml/2006/main">
              <a:ext uri="{FF2B5EF4-FFF2-40B4-BE49-F238E27FC236}">
                <a16:creationId xmlns:a16="http://schemas.microsoft.com/office/drawing/2014/main" id="{E600420A-4000-4DFA-9358-717E2539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블로그스팟 운영 증빙</a:t>
            </a:r>
          </a:p>
        </p:txBody>
      </p:sp>
      <p:sp>
        <p:nvSpPr>
          <p:cNvPr id="18" name="page-marker-7">
            <a:extLst xmlns:a="http://schemas.openxmlformats.org/drawingml/2006/main">
              <a:ext uri="{FF2B5EF4-FFF2-40B4-BE49-F238E27FC236}">
                <a16:creationId xmlns:a16="http://schemas.microsoft.com/office/drawing/2014/main" id="{3F4FE1DE-F67D-472C-B371-70C6EC8B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20019518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011BA6-9B97-4483-A87A-D00F8486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7620C40-C1F6-487E-8478-0B9FEBF6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93AAC49-ECAF-48BC-9657-6523A079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CONTENT TOOL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9C43943-8BA2-45A9-9499-6129F5C1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자체 도구는 초보자의 주제 정리와 발행 흐름을 돕기 위해 만들었습니다.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6E036-E2F1-4612-9681-1D792EF1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도구 자체를 판매하기보다, 콘텐츠 운영 경험과 교육 과정에서 발견한 어려움을 정리한 결과물로 보여줍니다.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F51D3-6656-4B11-B55F-EA9F3074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6019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59cd42aa44ed6"/>
          <a:srcRect xmlns:a="http://schemas.openxmlformats.org/drawingml/2006/main" l="4901" t="0" r="49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343150"/>
            <a:ext cx="5905500" cy="3028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18A0D-D3BD-4D90-AE89-1644A4FC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50459-756D-4BE2-90EF-81465453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567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콘텐츠 후보 정리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FA0FE-411D-414D-88EB-13D8DA7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9800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11C4B-60AF-42E4-8B18-47DA8A8E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431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07EC7-6CFC-4A34-B0A3-566D93E4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241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주제 후보 수집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DC5F3-AD72-46B8-84B2-AA8F0AAE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527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반복해서 다룰 수 있는 생활정보 주제를 모읍니다.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A987F-2E3E-4084-B689-CAA64F48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38500"/>
            <a:ext cx="361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98BDC-5ACF-4947-AC17-77D0C7C4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718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789A9-64B2-4A20-951B-D4CBC8B3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528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자료 확인 기준 정리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2820C-B824-4931-B222-CDCDA897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81400"/>
            <a:ext cx="2933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검색량보다 독자가 실제로 이해해야 할 원인과 순서를 우선 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E7386-2D87-4CDB-B615-CC990FA4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05300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E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35B37-E940-4BE4-94E1-9E826AC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386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F66F5-0A6B-4B18-A5D6-B94AD82B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196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발행 흐름 관리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11DEC-0EED-436A-96A0-370FA8C8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482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초보자가 제목, 자료, 본문 흐름을 잃지 않도록 체크합니다.</a:t>
            </a:r>
          </a:p>
        </p:txBody>
      </p:sp>
      <p:sp>
        <p:nvSpPr>
          <p:cNvPr id="22" name="footer-note-8">
            <a:extLst xmlns:a="http://schemas.openxmlformats.org/drawingml/2006/main">
              <a:ext uri="{FF2B5EF4-FFF2-40B4-BE49-F238E27FC236}">
                <a16:creationId xmlns:a16="http://schemas.microsoft.com/office/drawing/2014/main" id="{A8CB26CA-2371-4AD4-BA62-AA5B992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자체 콘텐츠 운영 도구 증빙</a:t>
            </a:r>
          </a:p>
        </p:txBody>
      </p:sp>
      <p:sp>
        <p:nvSpPr>
          <p:cNvPr id="23" name="page-marker-8">
            <a:extLst xmlns:a="http://schemas.openxmlformats.org/drawingml/2006/main">
              <a:ext uri="{FF2B5EF4-FFF2-40B4-BE49-F238E27FC236}">
                <a16:creationId xmlns:a16="http://schemas.microsoft.com/office/drawing/2014/main" id="{87264BCD-4D24-4DF3-994B-1409D8E2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3128063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9229A5-2461-4B8C-BFD8-DC802E0C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ACAB03C-F97A-4859-97D4-497B0BD3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3BF200-52C9-446A-AC12-7606D206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NEXT CHANNEL PLAN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F961068-1C62-4221-87C7-4E035DC7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42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다음채널은 생활밀착형 정보 정리 채널로 운영합니다.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A820C-828B-4520-B820-CE28C232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단순 이슈 반복이 아니라 독자가 한 글에서 원인, 순서, 주의사항을 확인할 수 있는 정리형 콘텐츠를 목표로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087B6-B956-47E9-88A6-A4255E16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8B4B2-D2D3-4399-A441-715E381B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384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B1485-EFC4-4B82-935C-B8599CA8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19350"/>
            <a:ext cx="407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생활문제 해결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D5E20-BA77-40B7-AA5C-1D1A54FE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장마철 습도, 빨래 냄새, 욕실 곰팡이, 배수구 냄새처럼 반복되는 문제를 원인과 순서로 정리합니다.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21C04-4A58-4870-B72E-157B8442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0505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E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C9046-79FB-4DDA-B1D5-73366A12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384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09D0E-7F2C-48A9-A18B-BACE5C91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407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지원금·정책 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91A3F-143D-4A1E-9820-B1527D91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정부24, 복지로, 지자체 안내 등 공식 자료를 확인하고 대상, 조건, 기간, 필요서류를 정리합니다.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577C4-36F8-4E2F-9D1C-FB5BB416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4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7B6A1-D540-49E6-9DAA-8AAA75A3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433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A5DE0-3077-4B1D-A13E-64830B9C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407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계절별 집관리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D952D-42B7-4D4F-BF90-38FBDEB7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5285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장마, 폭염, 난방, 명절, 겨울철 결로처럼 시기별로 반복되는 생활 이슈를 미리 확인하게 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9435A4-6C58-4963-A110-31C99952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0995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82900-7A3C-4311-93AB-BA95F025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5433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A5B69-AB41-4968-8B44-D8F8D8A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407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청소·세탁·리빙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61A0D-274B-469A-ABD7-140AE258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52850"/>
            <a:ext cx="407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청소 순서, 세탁 후 냄새, 생활가전 관리처럼 실생활에 바로 쓰이는 정보를 다룹니다.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3DBF2-F701-43D3-B7F2-7DAE8BC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058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DD049-E574-4A6E-9383-DC81CE09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482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DF794-5731-45AE-A42B-0A2E31BC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29150"/>
            <a:ext cx="937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4050 방송·인물 이야기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8ECCF9-D5E6-4FD1-B749-F5234D61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937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공개 인터뷰와 방송 자료를 바탕으로 활동 변화와 다시 회자되는 이유를 정리합니다.</a:t>
            </a:r>
          </a:p>
        </p:txBody>
      </p:sp>
      <p:sp>
        <p:nvSpPr>
          <p:cNvPr id="26" name="footer-note-9">
            <a:extLst xmlns:a="http://schemas.openxmlformats.org/drawingml/2006/main">
              <a:ext uri="{FF2B5EF4-FFF2-40B4-BE49-F238E27FC236}">
                <a16:creationId xmlns:a16="http://schemas.microsoft.com/office/drawing/2014/main" id="{7726A395-AA94-4871-93AD-7C4E7487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다음채널 콘텐츠 방향</a:t>
            </a:r>
          </a:p>
        </p:txBody>
      </p:sp>
      <p:sp>
        <p:nvSpPr>
          <p:cNvPr id="27" name="page-marker-9">
            <a:extLst xmlns:a="http://schemas.openxmlformats.org/drawingml/2006/main">
              <a:ext uri="{FF2B5EF4-FFF2-40B4-BE49-F238E27FC236}">
                <a16:creationId xmlns:a16="http://schemas.microsoft.com/office/drawing/2014/main" id="{2BC07638-3A1E-4256-9B32-405C1741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19055872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A0DEE8-FC4E-40B0-8729-664B5A3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B8ADE1A-1E98-4CA9-866E-A0FB0262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92233E8-8799-4F16-AD40-EB0F6BAE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5F"/>
                </a:solidFill>
                <a:latin typeface="Malgun Gothic"/>
                <a:ea typeface="Malgun Gothic"/>
                <a:cs typeface="Malgun Gothic"/>
              </a:rPr>
              <a:t>OPERATING PRINCIPLES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3242F53-94AB-4EE4-8988-A4C2FE50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운영 원칙은 공식 자료 확인과 독자 이해 중심으로 고정합니다.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3E699-D749-43FE-B395-864BCD31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다음채널 제출 전에는 실제 대표 URL만 교체하면 바로 활용할 수 있는 포트폴리오 구조입니다.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A8B2A-8FC6-4B1E-B00B-E807F757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66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DC11F-BCE2-480C-9D28-95BA6695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2A408-19A5-4D98-B81E-9515DA8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453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232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32323"/>
                </a:solidFill>
                <a:latin typeface="Malgun Gothic"/>
                <a:ea typeface="Malgun Gothic"/>
                <a:cs typeface="Malgun Gothic"/>
              </a:rPr>
              <a:t>지원금과 정책 글은 공식 안내 자료를 먼저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D596A-9126-4EC0-A50E-7604FF40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81A02-320A-4BBB-AEB2-C4520861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510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232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32323"/>
                </a:solidFill>
                <a:latin typeface="Malgun Gothic"/>
                <a:ea typeface="Malgun Gothic"/>
                <a:cs typeface="Malgun Gothic"/>
              </a:rPr>
              <a:t>변동 가능한 조건, 기간, 필요서류는 확인 경로 함께 안내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04AC7-763A-46BD-B428-9F745ADE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86E8D-3EC3-4F70-B3D5-3015A83E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510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232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32323"/>
                </a:solidFill>
                <a:latin typeface="Malgun Gothic"/>
                <a:ea typeface="Malgun Gothic"/>
                <a:cs typeface="Malgun Gothic"/>
              </a:rPr>
              <a:t>인물 콘텐츠는 공개 인터뷰와 방송 자료를 기준으로 작성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52E69-C523-4F60-9CB8-8046A3C2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09A07-358E-48F2-A64D-BB2BB0AC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472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232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32323"/>
                </a:solidFill>
                <a:latin typeface="Malgun Gothic"/>
                <a:ea typeface="Malgun Gothic"/>
                <a:cs typeface="Malgun Gothic"/>
              </a:rPr>
              <a:t>확인되지 않은 루머와 사생활 추측 배제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84435-DDB4-490F-B28C-D46F7F68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50D02-175F-4C0F-92F6-3A0F26A3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29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232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32323"/>
                </a:solidFill>
                <a:latin typeface="Malgun Gothic"/>
                <a:ea typeface="Malgun Gothic"/>
                <a:cs typeface="Malgun Gothic"/>
              </a:rPr>
              <a:t>독자가 바로 이해하도록 원인, 순서, 주의사항 중심 구성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03E7C-D657-4CDE-86C2-22D1E3A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42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E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F8F73-1964-4319-8D8D-D6879552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76500"/>
            <a:ext cx="312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발행 계획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9DBCD-B591-44E1-9D2C-4ED438F8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622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콘텐츠뷰 기준 월 25개 내외 발행을 계획합니다. 장마, 폭염, 난방, 명절, 지원금 신청기간처럼 계절성과 생활성이 있는 주제를 우선 발행합니다.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9F577-47BC-46CB-9A18-5D2C6E4F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342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97829-4CEB-4603-9516-F62A1A93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38600"/>
            <a:ext cx="312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A24"/>
                </a:solidFill>
                <a:latin typeface="Malgun Gothic"/>
                <a:ea typeface="Malgun Gothic"/>
                <a:cs typeface="Malgun Gothic"/>
              </a:rPr>
              <a:t>제출 전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E6602-2C98-411E-AFC9-2462AF5D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24350"/>
            <a:ext cx="312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대표 콘텐츠 링크와 운영 채널 URL만 실제 주소로 교체하면 됩니다. 제출용 웹페이지와 함께 보강자료로 활용하기 좋습니다.</a:t>
            </a:r>
          </a:p>
        </p:txBody>
      </p:sp>
      <p:sp>
        <p:nvSpPr>
          <p:cNvPr id="23" name="footer-note-10">
            <a:extLst xmlns:a="http://schemas.openxmlformats.org/drawingml/2006/main">
              <a:ext uri="{FF2B5EF4-FFF2-40B4-BE49-F238E27FC236}">
                <a16:creationId xmlns:a16="http://schemas.microsoft.com/office/drawing/2014/main" id="{BE99C083-3912-4773-AA74-C3DD81A3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작성 원칙 및 운영 계획</a:t>
            </a:r>
          </a:p>
        </p:txBody>
      </p:sp>
      <p:sp>
        <p:nvSpPr>
          <p:cNvPr id="24" name="page-marker-10">
            <a:extLst xmlns:a="http://schemas.openxmlformats.org/drawingml/2006/main">
              <a:ext uri="{FF2B5EF4-FFF2-40B4-BE49-F238E27FC236}">
                <a16:creationId xmlns:a16="http://schemas.microsoft.com/office/drawing/2014/main" id="{3B83EB3E-D43E-4D75-9AF4-58E119AE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6B66"/>
                </a:solidFill>
                <a:latin typeface="Malgun Gothic"/>
                <a:ea typeface="Malgun Gothic"/>
                <a:cs typeface="Malgun Gothic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2042941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2026-06-15T10:34:14.3450000Z</dcterms:created>
  <dcterms:modified xsi:type="dcterms:W3CDTF">2026-06-15T10:34:14.3460000Z</dcterms:modified>
</coreProperties>
</file>